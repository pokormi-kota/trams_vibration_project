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9" r:id="rId3"/>
    <p:sldId id="261" r:id="rId4"/>
    <p:sldId id="258" r:id="rId5"/>
    <p:sldId id="257" r:id="rId6"/>
    <p:sldId id="264" r:id="rId7"/>
    <p:sldId id="262" r:id="rId8"/>
    <p:sldId id="269" r:id="rId9"/>
    <p:sldId id="266" r:id="rId10"/>
    <p:sldId id="268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03EC4-7C8B-C411-B558-F1ACB3D21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Влияние состояния рельсового пути на вибрационное воздействие от трамваев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1A8117-0E7C-780A-1A0B-E3DFB9EAE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Л.М. Чечулина, инженер,</a:t>
            </a:r>
            <a:r>
              <a:rPr lang="en-US" dirty="0"/>
              <a:t> </a:t>
            </a:r>
            <a:r>
              <a:rPr lang="ru-RU" dirty="0"/>
              <a:t>НИИСФ</a:t>
            </a:r>
          </a:p>
          <a:p>
            <a:r>
              <a:rPr lang="ru-RU" dirty="0"/>
              <a:t>В.А. Смирнов, к.т.н., ведущий научный сотрудник, НИИСФ</a:t>
            </a:r>
          </a:p>
        </p:txBody>
      </p:sp>
    </p:spTree>
    <p:extLst>
      <p:ext uri="{BB962C8B-B14F-4D97-AF65-F5344CB8AC3E}">
        <p14:creationId xmlns:p14="http://schemas.microsoft.com/office/powerpoint/2010/main" val="288674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944A0-83D7-21C2-79A9-AE18E761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336757" cy="4601183"/>
          </a:xfrm>
        </p:spPr>
        <p:txBody>
          <a:bodyPr/>
          <a:lstStyle/>
          <a:p>
            <a:r>
              <a:rPr lang="ru-RU" dirty="0"/>
              <a:t>Почему возникло это исследование?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30542D1-EFDC-8223-D8B3-CCADA9BF8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8233" y="688682"/>
            <a:ext cx="7858896" cy="2968917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C0C5CB-3F45-82B3-5144-806A3BD6C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898" y="4010524"/>
            <a:ext cx="8074453" cy="139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0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83899E-0F30-08DF-E297-23CDD868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391319" cy="4601183"/>
          </a:xfrm>
        </p:spPr>
        <p:txBody>
          <a:bodyPr/>
          <a:lstStyle/>
          <a:p>
            <a:r>
              <a:rPr lang="ru-RU" dirty="0"/>
              <a:t>Почему возникло это исследование?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769F10-8737-B438-43D2-45E71302D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2021 год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9FE6874-F45D-CD15-7728-841C570D6A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2023 год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0DF46FE-07D8-7C49-BADC-FF2D0D40F8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8046839" y="1930400"/>
            <a:ext cx="3018234" cy="4024313"/>
          </a:xfrm>
        </p:spPr>
      </p:pic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1008E376-BC67-D088-9B37-6079E78BA6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867150" y="2036760"/>
            <a:ext cx="3475038" cy="3811593"/>
          </a:xfrm>
        </p:spPr>
      </p:pic>
    </p:spTree>
    <p:extLst>
      <p:ext uri="{BB962C8B-B14F-4D97-AF65-F5344CB8AC3E}">
        <p14:creationId xmlns:p14="http://schemas.microsoft.com/office/powerpoint/2010/main" val="2956042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C2780-FF5F-3D07-8F33-41E06FC0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805636"/>
            <a:ext cx="3016557" cy="2559356"/>
          </a:xfrm>
        </p:spPr>
        <p:txBody>
          <a:bodyPr>
            <a:normAutofit/>
          </a:bodyPr>
          <a:lstStyle/>
          <a:p>
            <a:r>
              <a:rPr lang="ru-RU" sz="2800" dirty="0">
                <a:effectLst/>
                <a:ea typeface="Calibri" panose="020F0502020204030204" pitchFamily="34" charset="0"/>
              </a:rPr>
              <a:t>Схема расположения точек измерений (красным – 2020 г., зелёным 2023 г.)</a:t>
            </a: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508B9F-A162-5117-E184-812464000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3016556" cy="2322576"/>
          </a:xfrm>
        </p:spPr>
        <p:txBody>
          <a:bodyPr>
            <a:normAutofit fontScale="92500"/>
          </a:bodyPr>
          <a:lstStyle/>
          <a:p>
            <a:r>
              <a:rPr lang="ru-RU" sz="2400" dirty="0"/>
              <a:t>Для проведения сравнения были выбраны точки расположенные возле двух участков: прямого и криволинейного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244AB2-CCF7-BF8C-56EB-02F5D7DCD2E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" b="7904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19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A1F56-FF19-3D32-1CEC-5D942579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802105"/>
            <a:ext cx="2947482" cy="2433113"/>
          </a:xfrm>
        </p:spPr>
        <p:txBody>
          <a:bodyPr>
            <a:normAutofit/>
          </a:bodyPr>
          <a:lstStyle/>
          <a:p>
            <a:r>
              <a:rPr lang="ru-RU" sz="2800" dirty="0"/>
              <a:t>2020 г.</a:t>
            </a:r>
            <a:br>
              <a:rPr lang="ru-RU" sz="2800" dirty="0"/>
            </a:br>
            <a:r>
              <a:rPr lang="ru-RU" sz="2800" dirty="0"/>
              <a:t>спектральная реализация для прямолинейного участка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85264D-8928-9C2F-B428-D679EB428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183" y="3403661"/>
            <a:ext cx="6807323" cy="3403661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3567F7C4-68E1-F68E-2A49-E7E26D2F5D46}"/>
              </a:ext>
            </a:extLst>
          </p:cNvPr>
          <p:cNvSpPr txBox="1">
            <a:spLocks/>
          </p:cNvSpPr>
          <p:nvPr/>
        </p:nvSpPr>
        <p:spPr>
          <a:xfrm>
            <a:off x="252919" y="3462360"/>
            <a:ext cx="2947482" cy="2433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2023 г.</a:t>
            </a:r>
            <a:br>
              <a:rPr lang="ru-RU" sz="2800" dirty="0"/>
            </a:br>
            <a:r>
              <a:rPr lang="ru-RU" sz="2800" dirty="0"/>
              <a:t>спектральная реализация для прямолинейного участка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31E1B3-94B3-A0A7-BA05-1EC376AB2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418" y="50678"/>
            <a:ext cx="6705967" cy="335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59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A1F56-FF19-3D32-1CEC-5D942579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802105"/>
            <a:ext cx="2947482" cy="2433113"/>
          </a:xfrm>
        </p:spPr>
        <p:txBody>
          <a:bodyPr>
            <a:normAutofit/>
          </a:bodyPr>
          <a:lstStyle/>
          <a:p>
            <a:r>
              <a:rPr lang="ru-RU" sz="2800" dirty="0"/>
              <a:t>2020 г.</a:t>
            </a:r>
            <a:br>
              <a:rPr lang="ru-RU" sz="2800" dirty="0"/>
            </a:br>
            <a:r>
              <a:rPr lang="ru-RU" sz="2800" dirty="0"/>
              <a:t>спектральная реализация для криволинейного  участка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3567F7C4-68E1-F68E-2A49-E7E26D2F5D46}"/>
              </a:ext>
            </a:extLst>
          </p:cNvPr>
          <p:cNvSpPr txBox="1">
            <a:spLocks/>
          </p:cNvSpPr>
          <p:nvPr/>
        </p:nvSpPr>
        <p:spPr>
          <a:xfrm>
            <a:off x="252919" y="3462360"/>
            <a:ext cx="2947482" cy="2433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2023 г.</a:t>
            </a:r>
            <a:br>
              <a:rPr lang="ru-RU" sz="2800" dirty="0"/>
            </a:br>
            <a:r>
              <a:rPr lang="ru-RU" sz="2800" dirty="0"/>
              <a:t>спектральная реализация для криволинейного  участка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9312C2-42BB-5519-265F-46C454B36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676" y="3429000"/>
            <a:ext cx="6796228" cy="33981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A82101-4E55-D212-E744-152D3EBF8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76" y="30886"/>
            <a:ext cx="6695966" cy="334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1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3B7DE-2935-90B0-51EB-17AD654E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1969168"/>
          </a:xfrm>
        </p:spPr>
        <p:txBody>
          <a:bodyPr>
            <a:normAutofit/>
          </a:bodyPr>
          <a:lstStyle/>
          <a:p>
            <a:r>
              <a:rPr lang="ru-RU" sz="2800" dirty="0"/>
              <a:t>Определение трамваев на записи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D49CD6-FCF0-0533-151B-269AF90C0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1" y="3494176"/>
            <a:ext cx="2984473" cy="2321990"/>
          </a:xfrm>
        </p:spPr>
        <p:txBody>
          <a:bodyPr>
            <a:normAutofit/>
          </a:bodyPr>
          <a:lstStyle/>
          <a:p>
            <a:r>
              <a:rPr lang="ru-RU" sz="2200" dirty="0"/>
              <a:t>Трамваи определялись на записи по спектру создаваемых ими вибраций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C76A8EB-9BCD-3FE8-CFEC-2FBCFBFA9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7150" y="1520191"/>
            <a:ext cx="7315200" cy="3817619"/>
          </a:xfrm>
        </p:spPr>
      </p:pic>
    </p:spTree>
    <p:extLst>
      <p:ext uri="{BB962C8B-B14F-4D97-AF65-F5344CB8AC3E}">
        <p14:creationId xmlns:p14="http://schemas.microsoft.com/office/powerpoint/2010/main" val="357510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3B7DE-2935-90B0-51EB-17AD654E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1969168"/>
          </a:xfrm>
        </p:spPr>
        <p:txBody>
          <a:bodyPr>
            <a:normAutofit/>
          </a:bodyPr>
          <a:lstStyle/>
          <a:p>
            <a:r>
              <a:rPr lang="ru-RU" sz="2800" dirty="0"/>
              <a:t>Учет состояния пути в нормативной документации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11879E30-D109-B4F2-2F67-A2394A295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4505" y="911142"/>
            <a:ext cx="7233215" cy="4905024"/>
          </a:xfrm>
        </p:spPr>
      </p:pic>
    </p:spTree>
    <p:extLst>
      <p:ext uri="{BB962C8B-B14F-4D97-AF65-F5344CB8AC3E}">
        <p14:creationId xmlns:p14="http://schemas.microsoft.com/office/powerpoint/2010/main" val="2884839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C2780-FF5F-3D07-8F33-41E06FC0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805637"/>
            <a:ext cx="3016557" cy="2210279"/>
          </a:xfrm>
        </p:spPr>
        <p:txBody>
          <a:bodyPr>
            <a:normAutofit/>
          </a:bodyPr>
          <a:lstStyle/>
          <a:p>
            <a:r>
              <a:rPr lang="ru-RU" sz="2800" dirty="0">
                <a:effectLst/>
                <a:ea typeface="Calibri" panose="020F0502020204030204" pitchFamily="34" charset="0"/>
              </a:rPr>
              <a:t>Уровни вибрации на прямом участке</a:t>
            </a: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508B9F-A162-5117-E184-812464000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3493007"/>
            <a:ext cx="3016556" cy="2559356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После реконструкции пути отмечено небольшое снижение уровней вибрации в диапазоне 8 – 63 Гц</a:t>
            </a:r>
            <a:r>
              <a:rPr lang="en-US" sz="2400" dirty="0"/>
              <a:t> </a:t>
            </a:r>
            <a:r>
              <a:rPr lang="ru-RU" sz="2400" dirty="0"/>
              <a:t>по оси Z, и значительное увеличение по осям X и Y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63CE674E-C31C-2377-6B30-416564F850F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30" r="4330"/>
          <a:stretch>
            <a:fillRect/>
          </a:stretch>
        </p:blipFill>
        <p:spPr>
          <a:xfrm>
            <a:off x="4806563" y="0"/>
            <a:ext cx="5830029" cy="3829788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7C68F25B-0B41-53E6-249D-D9624EC32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840" y="4042102"/>
            <a:ext cx="4197738" cy="2519120"/>
          </a:xfrm>
          <a:prstGeom prst="rect">
            <a:avLst/>
          </a:prstGeom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FA7DFBFE-9C4E-2F61-A9C6-5FD352032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114" y="4042102"/>
            <a:ext cx="4197706" cy="251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95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C2780-FF5F-3D07-8F33-41E06FC0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805636"/>
            <a:ext cx="3016557" cy="2559356"/>
          </a:xfrm>
        </p:spPr>
        <p:txBody>
          <a:bodyPr>
            <a:normAutofit/>
          </a:bodyPr>
          <a:lstStyle/>
          <a:p>
            <a:r>
              <a:rPr lang="ru-RU" sz="2800" dirty="0">
                <a:effectLst/>
                <a:ea typeface="Calibri" panose="020F0502020204030204" pitchFamily="34" charset="0"/>
              </a:rPr>
              <a:t>Уровни вибрации на криволинейном участке</a:t>
            </a: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508B9F-A162-5117-E184-812464000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3493007"/>
            <a:ext cx="3016556" cy="2747372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После реконструкции пути отмечено небольшое снижение уровней вибрации в диапазоне 8 – 63 Гц</a:t>
            </a:r>
            <a:r>
              <a:rPr lang="en-US" sz="2400" dirty="0"/>
              <a:t> </a:t>
            </a:r>
            <a:r>
              <a:rPr lang="ru-RU" sz="2400" dirty="0"/>
              <a:t>по оси </a:t>
            </a:r>
            <a:r>
              <a:rPr lang="en-US" sz="2400" dirty="0"/>
              <a:t>Z</a:t>
            </a:r>
            <a:r>
              <a:rPr lang="ru-RU" sz="2400" dirty="0"/>
              <a:t>, и значительное увеличение по осям </a:t>
            </a:r>
            <a:r>
              <a:rPr lang="en-US" sz="2400" dirty="0"/>
              <a:t>X </a:t>
            </a:r>
            <a:r>
              <a:rPr lang="ru-RU" sz="2400" dirty="0"/>
              <a:t>и </a:t>
            </a:r>
            <a:r>
              <a:rPr lang="en-US" sz="2400" dirty="0"/>
              <a:t>Y</a:t>
            </a:r>
            <a:endParaRPr lang="ru-RU" sz="2400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EC298D90-1C17-085F-BBC4-CA53B0391A4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30" r="4330"/>
          <a:stretch>
            <a:fillRect/>
          </a:stretch>
        </p:blipFill>
        <p:spPr>
          <a:xfrm>
            <a:off x="4756450" y="0"/>
            <a:ext cx="5900478" cy="3876066"/>
          </a:xfrm>
          <a:prstGeom prst="rect">
            <a:avLst/>
          </a:prstGeom>
        </p:spPr>
      </p:pic>
      <p:pic>
        <p:nvPicPr>
          <p:cNvPr id="11" name="Picture 1">
            <a:extLst>
              <a:ext uri="{FF2B5EF4-FFF2-40B4-BE49-F238E27FC236}">
                <a16:creationId xmlns:a16="http://schemas.microsoft.com/office/drawing/2014/main" id="{D2F63707-CF1D-6450-4415-B413AD64D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156" y="4042102"/>
            <a:ext cx="4198533" cy="2519120"/>
          </a:xfrm>
          <a:prstGeom prst="rect">
            <a:avLst/>
          </a:prstGeom>
        </p:spPr>
      </p:pic>
      <p:pic>
        <p:nvPicPr>
          <p:cNvPr id="12" name="Picture 1">
            <a:extLst>
              <a:ext uri="{FF2B5EF4-FFF2-40B4-BE49-F238E27FC236}">
                <a16:creationId xmlns:a16="http://schemas.microsoft.com/office/drawing/2014/main" id="{E4A5F607-E7BB-D107-784F-19F6099DC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929" y="4042102"/>
            <a:ext cx="4198243" cy="251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60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4BDC3-E4FC-1D4D-B274-881446ADF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2D003A-2C77-D832-2B16-4504AC9CA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809408"/>
          </a:xfrm>
        </p:spPr>
        <p:txBody>
          <a:bodyPr>
            <a:normAutofit/>
          </a:bodyPr>
          <a:lstStyle/>
          <a:p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вертикального направления отмечено снижение уровня вибрации от 0,4 (0,2) дБ для максимальных (СКЗ) значений </a:t>
            </a:r>
            <a:r>
              <a:rPr lang="ru-RU" sz="2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виброускорений</a:t>
            </a:r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в октавных полосах со среднегеометрическими частотами 8 – 63 Гц;</a:t>
            </a:r>
          </a:p>
          <a:p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горизонтальных направлений колебаний наблюдается повышение вибрационного фона во всём диапазоне измерений;</a:t>
            </a:r>
          </a:p>
          <a:p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Как показывают результаты выполненных сравнительных измерений, соблюдение технологии и качество производства ремонтных работ влияет на изменение вибрационного фона, который не всегда снижается после их выполнения;</a:t>
            </a:r>
          </a:p>
          <a:p>
            <a:r>
              <a:rPr lang="ru-RU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Требуется проведение серии сравнительных изысканий для уточнения указанных коэффициентов таблицы 5.1 применительно к трамвайным путям.</a:t>
            </a:r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346883827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184</TotalTime>
  <Words>283</Words>
  <Application>Microsoft Office PowerPoint</Application>
  <PresentationFormat>Широкоэкранный</PresentationFormat>
  <Paragraphs>25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Corbel</vt:lpstr>
      <vt:lpstr>Times New Roman</vt:lpstr>
      <vt:lpstr>Wingdings 2</vt:lpstr>
      <vt:lpstr>Рамка</vt:lpstr>
      <vt:lpstr>Влияние состояния рельсового пути на вибрационное воздействие от трамваев</vt:lpstr>
      <vt:lpstr>Почему возникло это исследование?</vt:lpstr>
      <vt:lpstr>Почему возникло это исследование?</vt:lpstr>
      <vt:lpstr>Схема расположения точек измерений (красным – 2020 г., зелёным 2023 г.)</vt:lpstr>
      <vt:lpstr>2020 г. спектральная реализация для прямолинейного участка</vt:lpstr>
      <vt:lpstr>2020 г. спектральная реализация для криволинейного  участка</vt:lpstr>
      <vt:lpstr>Определение трамваев на записи</vt:lpstr>
      <vt:lpstr>Учет состояния пути в нормативной документации</vt:lpstr>
      <vt:lpstr>Уровни вибрации на прямом участке</vt:lpstr>
      <vt:lpstr>Уровни вибрации на криволинейном участке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состояния рельсового пути на вибрационное воздействие от трамваев</dc:title>
  <dc:creator>Чечулина Любовь</dc:creator>
  <cp:lastModifiedBy>Чечулина Любовь</cp:lastModifiedBy>
  <cp:revision>3</cp:revision>
  <dcterms:created xsi:type="dcterms:W3CDTF">2023-07-03T13:58:54Z</dcterms:created>
  <dcterms:modified xsi:type="dcterms:W3CDTF">2023-07-05T11:31:07Z</dcterms:modified>
</cp:coreProperties>
</file>